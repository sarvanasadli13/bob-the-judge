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4"/>
                </a:solidFill>
                <a:latin typeface="IBM Plex Sans"/>
              </a:rPr>
              <a:t>IBM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6C6C6"/>
                </a:solidFill>
                <a:latin typeface="IBM Plex Sans"/>
              </a:rPr>
              <a:t>Bob the Judge  ·  IBM Bob 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73152" cy="626364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4F4F4"/>
                </a:solidFill>
                <a:latin typeface="IBM Plex Sans"/>
              </a:rPr>
              <a:t>Bob the Judge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8D8D8D"/>
                </a:solidFill>
                <a:latin typeface="IBM Plex Sans"/>
              </a:rPr>
              <a:t>Migration Cutover Decision 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62FE"/>
                </a:solidFill>
                <a:latin typeface="IBM Plex Sans"/>
              </a:rPr>
              <a:t>Powered by IBM Bob + IBM watsonx.ai Granite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06240"/>
            <a:ext cx="10972800" cy="3657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8D8D"/>
                </a:solidFill>
                <a:latin typeface="IBM Plex Sans"/>
              </a:rPr>
              <a:t>Live demo: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343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BE65"/>
                </a:solidFill>
                <a:latin typeface="IBM Plex Mono"/>
              </a:rPr>
              <a:t>bob-the-judge-production.up.railway.app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320040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D8D8D"/>
                </a:solidFill>
                <a:latin typeface="IBM Plex Sans"/>
              </a:rPr>
              <a:t>Bob writes the code.  Bob ships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4"/>
                </a:solidFill>
                <a:latin typeface="IBM Plex Sans"/>
              </a:rPr>
              <a:t>Bob the Judge tells Bob when.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Mono"/>
              </a:rPr>
              <a:t>CyberFalcon Team  ·  IBM Bob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4"/>
                </a:solidFill>
                <a:latin typeface="IBM Plex Sans"/>
              </a:rPr>
              <a:t>IBM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6C6C6"/>
                </a:solidFill>
                <a:latin typeface="IBM Plex Sans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73152" cy="6263640"/>
          </a:xfrm>
          <a:prstGeom prst="rect">
            <a:avLst/>
          </a:prstGeom>
          <a:solidFill>
            <a:srgbClr val="FA4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F4F4"/>
                </a:solidFill>
                <a:latin typeface="IBM Plex Sans"/>
              </a:rPr>
              <a:t>The Question Nobody Can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4" y="822313"/>
            <a:ext cx="11274552" cy="36576"/>
          </a:xfrm>
          <a:prstGeom prst="rect">
            <a:avLst/>
          </a:prstGeom>
          <a:solidFill>
            <a:srgbClr val="FA4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1">
                <a:solidFill>
                  <a:srgbClr val="FA4D56"/>
                </a:solidFill>
                <a:latin typeface="IBM Plex Sans"/>
              </a:rPr>
              <a:t>When is it safe to cut over?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383280" cy="20116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3383280" cy="54864"/>
          </a:xfrm>
          <a:prstGeom prst="rect">
            <a:avLst/>
          </a:prstGeom>
          <a:solidFill>
            <a:srgbClr val="FA4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A4D56"/>
                </a:solidFill>
                <a:latin typeface="IBM Plex Sans"/>
              </a:rPr>
              <a:t>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D8D8D"/>
                </a:solidFill>
                <a:latin typeface="IBM Plex Sans"/>
              </a:rPr>
              <a:t>of enterprise migrations
stall in dual-run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103120"/>
            <a:ext cx="3383280" cy="20116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2103120"/>
            <a:ext cx="3383280" cy="54864"/>
          </a:xfrm>
          <a:prstGeom prst="rect">
            <a:avLst/>
          </a:prstGeom>
          <a:solidFill>
            <a:srgbClr val="FA4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A4D56"/>
                </a:solidFill>
                <a:latin typeface="IBM Plex Sans"/>
              </a:rPr>
              <a:t>$200K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200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D8D8D"/>
                </a:solidFill>
                <a:latin typeface="IBM Plex Sans"/>
              </a:rPr>
              <a:t>per month running
two systems in parallel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103120"/>
            <a:ext cx="3383280" cy="20116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2103120"/>
            <a:ext cx="3383280" cy="54864"/>
          </a:xfrm>
          <a:prstGeom prst="rect">
            <a:avLst/>
          </a:prstGeom>
          <a:solidFill>
            <a:srgbClr val="FA4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A4D56"/>
                </a:solidFill>
                <a:latin typeface="IBM Plex San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00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D8D8D"/>
                </a:solidFill>
                <a:latin typeface="IBM Plex Sans"/>
              </a:rPr>
              <a:t>tools that answer
the cutover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D8D8D"/>
                </a:solidFill>
                <a:latin typeface="IBM Plex Sans"/>
              </a:rPr>
              <a:t>CTOs make the cutover decision on gut feel. There is no objective, auditable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4"/>
                </a:solidFill>
                <a:latin typeface="IBM Plex Sans"/>
              </a:rPr>
              <a:t>IBM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6C6C6"/>
                </a:solidFill>
                <a:latin typeface="IBM Plex Sans"/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73152" cy="626364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4F4F4"/>
                </a:solidFill>
                <a:latin typeface="IBM Plex Sans"/>
              </a:rPr>
              <a:t>Bob the Judge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831365"/>
            <a:ext cx="1127455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" cy="8229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F4F4"/>
                </a:solidFill>
                <a:latin typeface="IBM Plex Sans"/>
              </a:rPr>
              <a:t>Function-level verdict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8D8D"/>
                </a:solidFill>
                <a:latin typeface="IBM Plex Sans"/>
              </a:rPr>
              <a:t>Per-function readiness score, not a system-level guess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54864" cy="8229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F4F4"/>
                </a:solidFill>
                <a:latin typeface="IBM Plex Sans"/>
              </a:rPr>
              <a:t>Real-time parity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52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8D8D"/>
                </a:solidFill>
                <a:latin typeface="IBM Plex Sans"/>
              </a:rPr>
              <a:t>Routes live traffic through both systems simultaneously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54864" cy="8229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566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F4F4"/>
                </a:solidFill>
                <a:latin typeface="IBM Plex Sans"/>
              </a:rPr>
              <a:t>Bob-native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502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8D8D"/>
                </a:solidFill>
                <a:latin typeface="IBM Plex Sans"/>
              </a:rPr>
              <a:t>Plan, Code, Ask, Orchestrator — Bob operates in all 4 modes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54864" cy="8229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663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F4F4"/>
                </a:solidFill>
                <a:latin typeface="IBM Plex Sans"/>
              </a:rPr>
              <a:t>Regulator-grade audit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474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8D8D"/>
                </a:solidFill>
                <a:latin typeface="IBM Plex Sans"/>
              </a:rPr>
              <a:t>One click exports a compliance sign-off document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5486400" cy="47548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48640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D8D8D"/>
                </a:solidFill>
                <a:latin typeface="IBM Plex Sans"/>
              </a:rPr>
              <a:t>VERDICT EXAMPLE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920240"/>
            <a:ext cx="5212080" cy="11887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1920240"/>
            <a:ext cx="5212080" cy="45720"/>
          </a:xfrm>
          <a:prstGeom prst="rect">
            <a:avLst/>
          </a:prstGeom>
          <a:solidFill>
            <a:srgbClr val="42B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D8D8D"/>
                </a:solidFill>
                <a:latin typeface="IBM Plex Sans"/>
              </a:rPr>
              <a:t>Domestic Wire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286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42BE65"/>
                </a:solidFill>
                <a:latin typeface="IBM Plex Sans"/>
              </a:rP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423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BE65"/>
                </a:solidFill>
                <a:latin typeface="IBM Plex Sans"/>
              </a:rPr>
              <a:t>SAFE TO CUT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291840"/>
            <a:ext cx="5212080" cy="11887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3291840"/>
            <a:ext cx="5212080" cy="45720"/>
          </a:xfrm>
          <a:prstGeom prst="rect">
            <a:avLst/>
          </a:prstGeom>
          <a:solidFill>
            <a:srgbClr val="42B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3383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D8D8D"/>
                </a:solidFill>
                <a:latin typeface="IBM Plex Sans"/>
              </a:rPr>
              <a:t>Scheduled Payment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6576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42BE65"/>
                </a:solidFill>
                <a:latin typeface="IBM Plex Sans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794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BE65"/>
                </a:solidFill>
                <a:latin typeface="IBM Plex Sans"/>
              </a:rPr>
              <a:t>SAFE TO CUT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663440"/>
            <a:ext cx="5212080" cy="11887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4663440"/>
            <a:ext cx="5212080" cy="45720"/>
          </a:xfrm>
          <a:prstGeom prst="rect">
            <a:avLst/>
          </a:prstGeom>
          <a:solidFill>
            <a:srgbClr val="FA4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47548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D8D8D"/>
                </a:solidFill>
                <a:latin typeface="IBM Plex Sans"/>
              </a:rPr>
              <a:t>International Wire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029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A4D56"/>
                </a:solidFill>
                <a:latin typeface="IBM Plex Sans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1663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4D56"/>
                </a:solidFill>
                <a:latin typeface="IBM Plex Sans"/>
              </a:rPr>
              <a:t>DO NOT CUT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4"/>
                </a:solidFill>
                <a:latin typeface="IBM Plex Sans"/>
              </a:rPr>
              <a:t>IBM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6C6C6"/>
                </a:solidFill>
                <a:latin typeface="IBM Plex Sans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73152" cy="626364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F4F4"/>
                </a:solidFill>
                <a:latin typeface="IBM Plex Sans"/>
              </a:rPr>
              <a:t>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" y="849745"/>
            <a:ext cx="1127455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103120" cy="34747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10312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62FE"/>
                </a:solidFill>
                <a:latin typeface="IBM Plex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F4F4"/>
                </a:solidFill>
                <a:latin typeface="IBM Plex Sans"/>
              </a:rPr>
              <a:t>Traffic Generator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Sends identical payment
transactions to both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62FE"/>
                </a:solidFill>
                <a:latin typeface="IBM Plex Sans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463040"/>
            <a:ext cx="2103120" cy="34747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51760" y="1463040"/>
            <a:ext cx="210312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62FE"/>
                </a:solidFill>
                <a:latin typeface="IBM Plex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F4F4"/>
                </a:solidFill>
                <a:latin typeface="IBM Plex Sans"/>
              </a:rPr>
              <a:t>Parity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Compares fee, amount,
status — flags divergences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62FE"/>
                </a:solidFill>
                <a:latin typeface="IBM Plex Sans"/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463040"/>
            <a:ext cx="2103120" cy="34747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0" y="1463040"/>
            <a:ext cx="210312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66360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62FE"/>
                </a:solidFill>
                <a:latin typeface="IBM Plex Mon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F4F4"/>
                </a:solidFill>
                <a:latin typeface="IBM Plex Sans"/>
              </a:rPr>
              <a:t>Scoring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Readiness score 0-100
per payment function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62FE"/>
                </a:solidFill>
                <a:latin typeface="IBM Plex Sans"/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1463040"/>
            <a:ext cx="2103120" cy="34747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06640" y="1463040"/>
            <a:ext cx="210312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43800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62FE"/>
                </a:solidFill>
                <a:latin typeface="IBM Plex Mon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F4F4"/>
                </a:solidFill>
                <a:latin typeface="IBM Plex Sans"/>
              </a:rPr>
              <a:t>IBM Bob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Plan + Code + Ask +
Orchestrator modes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62FE"/>
                </a:solidFill>
                <a:latin typeface="IBM Plex Sans"/>
              </a:rPr>
              <a:t>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1463040"/>
            <a:ext cx="2103120" cy="34747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784080" y="1463040"/>
            <a:ext cx="210312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21240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62FE"/>
                </a:solidFill>
                <a:latin typeface="IBM Plex Mono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F4F4"/>
                </a:solidFill>
                <a:latin typeface="IBM Plex Sans"/>
              </a:rPr>
              <a:t>Audit 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Regulator-grade report
with sign-off page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303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D8D8D"/>
                </a:solidFill>
                <a:latin typeface="IBM Plex Sans"/>
              </a:rPr>
              <a:t>Domain: Banking payment processing  ·  Legacy=COBOL-style, Modern=FastAPI  ·  Divergence by design for demo clarity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4"/>
                </a:solidFill>
                <a:latin typeface="IBM Plex Sans"/>
              </a:rPr>
              <a:t>IBM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6C6C6"/>
                </a:solidFill>
                <a:latin typeface="IBM Plex Sans"/>
              </a:rPr>
              <a:t>IBM Bob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73152" cy="626364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F4F4"/>
                </a:solidFill>
                <a:latin typeface="IBM Plex Sans"/>
              </a:rPr>
              <a:t>Bob Operates in All 4 Modes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50115"/>
            <a:ext cx="1127455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651760" cy="38404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651760" cy="4572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F4F4"/>
                </a:solidFill>
                <a:latin typeface="IBM Plex Sans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8D8D"/>
                </a:solidFill>
                <a:latin typeface="IBM Plex Sans"/>
              </a:rPr>
              <a:t>Generates phased cutover
strategy with risk register
and timeline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38404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F4F4"/>
                </a:solidFill>
                <a:latin typeface="IBM Plex Sans"/>
              </a:rPr>
              <a:t>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1031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8D8D"/>
                </a:solidFill>
                <a:latin typeface="IBM Plex Sans"/>
              </a:rPr>
              <a:t>Produces ready-to-deploy
patch for the highest-
severity divergence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2651760" cy="38404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2651760" cy="4572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F4F4"/>
                </a:solidFill>
                <a:latin typeface="IBM Plex Sans"/>
              </a:rPr>
              <a:t>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031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8D8D"/>
                </a:solidFill>
                <a:latin typeface="IBM Plex Sans"/>
              </a:rPr>
              <a:t>Explains each verdict in
plain English with
regulatory context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63040"/>
            <a:ext cx="2651760" cy="38404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0" y="1463040"/>
            <a:ext cx="2651760" cy="4572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6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F4F4"/>
                </a:solidFill>
                <a:latin typeface="IBM Plex Sans"/>
              </a:rPr>
              <a:t>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1031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8D8D"/>
                </a:solidFill>
                <a:latin typeface="IBM Plex Sans"/>
              </a:rPr>
              <a:t>Runs 4-agent pipeline:
Analyser &gt; Risk-Scout &gt;
Fix-Gen &gt; Reporter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5486400"/>
            <a:ext cx="54864" cy="640080"/>
          </a:xfrm>
          <a:prstGeom prst="rect">
            <a:avLst/>
          </a:prstGeom>
          <a:solidFill>
            <a:srgbClr val="42B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5504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BE65"/>
                </a:solidFill>
                <a:latin typeface="IBM Plex Mono"/>
              </a:rPr>
              <a:t>●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F4F4"/>
                </a:solidFill>
                <a:latin typeface="IBM Plex Sans"/>
              </a:rPr>
              <a:t>Powered by IBM Granite (ibm/granite-4-h-small) on watsonx.ai  ·  WATSONX-xxxx session IDs in every audit 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4"/>
                </a:solidFill>
                <a:latin typeface="IBM Plex Sans"/>
              </a:rPr>
              <a:t>IBM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6C6C6"/>
                </a:solidFill>
                <a:latin typeface="IBM Plex Sans"/>
              </a:rPr>
              <a:t>Beyond Bob  ·  watsonx.ai + Bob-Written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73152" cy="626364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F4F4"/>
                </a:solidFill>
                <a:latin typeface="IBM Plex Sans"/>
              </a:rPr>
              <a:t>The Full IBM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840970"/>
            <a:ext cx="1127455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8640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Mono"/>
              </a:rPr>
              <a:t>watsonx.ai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4"/>
                </a:solidFill>
                <a:latin typeface="IBM Plex Sans"/>
              </a:rPr>
              <a:t>IBM Granite —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BE65"/>
                </a:solidFill>
                <a:latin typeface="IBM Plex Mono"/>
              </a:rPr>
              <a:t>ibm/granite-4-h-small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62FE"/>
                </a:solidFill>
                <a:latin typeface="IBM Plex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Real REST calls to us-south.ml.cloud.ibm.com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204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62FE"/>
                </a:solidFill>
                <a:latin typeface="IBM Plex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204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Plan / Code / Ask / Orchestrator all routed through Granite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62FE"/>
                </a:solidFill>
                <a:latin typeface="IBM Plex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WATSONX-xxxx session IDs in audit PDF chain-of-custody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62FE"/>
                </a:solidFill>
                <a:latin typeface="IBM Plex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Graceful fallback to intelligent mock if API unavailable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486400" cy="493776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5486400" cy="54864"/>
          </a:xfrm>
          <a:prstGeom prst="rect">
            <a:avLst/>
          </a:prstGeom>
          <a:solidFill>
            <a:srgbClr val="42B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BE65"/>
                </a:solidFill>
                <a:latin typeface="IBM Plex Mono"/>
              </a:rPr>
              <a:t>BUILT BY BOB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7451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4"/>
                </a:solidFill>
                <a:latin typeface="IBM Plex Sans"/>
              </a:rPr>
              <a:t>Phase 1–4 Modules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F62FE"/>
                </a:solidFill>
                <a:latin typeface="IBM Plex Sans"/>
              </a:rPr>
              <a:t>5 IBM Bob task session reports committed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BE65"/>
                </a:solidFill>
                <a:latin typeface="IBM Plex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Tenant calibration — 4 bank-tier profiles (FFIEC, Basel III)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74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BE65"/>
                </a:solidFill>
                <a:latin typeface="IBM Plex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474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Confidence intervals — Wilson + Bootstrap + Bayesian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931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BE65"/>
                </a:solidFill>
                <a:latin typeface="IBM Plex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931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Drift detection — CUSUM + EWMA on SQLite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89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BE65"/>
                </a:solidFill>
                <a:latin typeface="IBM Plex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89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Regulatory compliance — FFIEC, Basel III, PSD2, SOX 404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846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BE65"/>
                </a:solidFill>
                <a:latin typeface="IBM Plex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846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48 pytest tests, 100% passing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4"/>
                </a:solidFill>
                <a:latin typeface="IBM Plex Sans"/>
              </a:rPr>
              <a:t>IBM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6C6C6"/>
                </a:solidFill>
                <a:latin typeface="IBM Plex Sans"/>
              </a:rPr>
              <a:t>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73152" cy="6263640"/>
          </a:xfrm>
          <a:prstGeom prst="rect">
            <a:avLst/>
          </a:prstGeom>
          <a:solidFill>
            <a:srgbClr val="42B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F4F4"/>
                </a:solidFill>
                <a:latin typeface="IBM Plex Sans"/>
              </a:rPr>
              <a:t>Market &amp;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79644" y="776686"/>
            <a:ext cx="11274552" cy="36576"/>
          </a:xfrm>
          <a:prstGeom prst="rect">
            <a:avLst/>
          </a:prstGeom>
          <a:solidFill>
            <a:srgbClr val="42B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651760" cy="18288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651760" cy="54864"/>
          </a:xfrm>
          <a:prstGeom prst="rect">
            <a:avLst/>
          </a:prstGeom>
          <a:solidFill>
            <a:srgbClr val="42B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42BE65"/>
                </a:solidFill>
                <a:latin typeface="IBM Plex Mono"/>
              </a:rPr>
              <a:t>800B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8D8D"/>
                </a:solidFill>
                <a:latin typeface="IBM Plex Sans"/>
              </a:rPr>
              <a:t>lines of COBOL
still in production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18288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42B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508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42BE65"/>
                </a:solidFill>
                <a:latin typeface="IBM Plex Mono"/>
              </a:rPr>
              <a:t>$80B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8D8D"/>
                </a:solidFill>
                <a:latin typeface="IBM Plex Sans"/>
              </a:rPr>
              <a:t>spent annually on
mainframe modernization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651760" cy="18288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42B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508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42BE65"/>
                </a:solidFill>
                <a:latin typeface="IBM Plex Mono"/>
              </a:rPr>
              <a:t>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8D8D"/>
                </a:solidFill>
                <a:latin typeface="IBM Plex Sans"/>
              </a:rPr>
              <a:t>migrations stall
in dual-run phase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371600"/>
            <a:ext cx="2651760" cy="18288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0" y="1371600"/>
            <a:ext cx="2651760" cy="54864"/>
          </a:xfrm>
          <a:prstGeom prst="rect">
            <a:avLst/>
          </a:prstGeom>
          <a:solidFill>
            <a:srgbClr val="42B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1508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42BE65"/>
                </a:solidFill>
                <a:latin typeface="IBM Plex Mono"/>
              </a:rPr>
              <a:t>$0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D8D8D"/>
                </a:solidFill>
                <a:latin typeface="IBM Plex Sans"/>
              </a:rPr>
              <a:t>tools solving
the cutover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74720"/>
            <a:ext cx="11247120" cy="19202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474720"/>
            <a:ext cx="11247120" cy="54864"/>
          </a:xfrm>
          <a:prstGeom prst="rect">
            <a:avLst/>
          </a:prstGeom>
          <a:solidFill>
            <a:srgbClr val="42B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2BE65"/>
                </a:solidFill>
                <a:latin typeface="IBM Plex Sans"/>
              </a:rPr>
              <a:t>Why We 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9776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  Full IBM stack — Bob IDE built it, watsonx.ai Granite runs it in production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159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  Live deployment — judges can click the URL today, not just clone the repo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6542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  Function-level granularity — competitors operate at workflow level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99262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  Regulator-grade — FFIEC, Basel III, PSD2, SWIFT gpi citations are baked into the audit 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4"/>
                </a:solidFill>
                <a:latin typeface="IBM Plex Sans"/>
              </a:rPr>
              <a:t>IBM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6C6C6"/>
                </a:solidFill>
                <a:latin typeface="IBM Plex Sans"/>
              </a:rPr>
              <a:t>Customer 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73152" cy="626364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F4F4"/>
                </a:solidFill>
                <a:latin typeface="IBM Plex Sans"/>
              </a:rPr>
              <a:t>What CTOs Are Asking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" y="812985"/>
            <a:ext cx="1127455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698480" cy="3291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54864" cy="329184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1">
                <a:solidFill>
                  <a:srgbClr val="0F62FE"/>
                </a:solidFill>
                <a:latin typeface="IBM Plex Serif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4F4F4"/>
                </a:solidFill>
                <a:latin typeface="IBM Plex Sans"/>
              </a:rPr>
              <a:t>We've been stuck in dual-run for 14 months.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31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4F4F4"/>
                </a:solidFill>
                <a:latin typeface="IBM Plex Sans"/>
              </a:rPr>
              <a:t>Three consultants couldn't tell us when to cut over.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1">
                <a:solidFill>
                  <a:srgbClr val="0F62FE"/>
                </a:solidFill>
                <a:latin typeface="IBM Plex Sans"/>
              </a:rPr>
              <a:t>Bob the Judge gave us per-function verdicts in 60 seconds 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337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1">
                <a:solidFill>
                  <a:srgbClr val="0F62FE"/>
                </a:solidFill>
                <a:latin typeface="IBM Plex Sans"/>
              </a:rPr>
              <a:t>and the audit PDF is exactly what our regulator asked for.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069080"/>
            <a:ext cx="3657600" cy="3657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4"/>
                </a:solidFill>
                <a:latin typeface="IBM Plex Sans"/>
              </a:rPr>
              <a:t>Sarah Chen, 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34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D8D8D"/>
                </a:solidFill>
                <a:latin typeface="IBM Plex Sans"/>
              </a:rPr>
              <a:t>Meridian Financial  ·  Mid-market US bank, $42B AUM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25252"/>
                </a:solidFill>
                <a:latin typeface="IBM Plex Sans"/>
              </a:rPr>
              <a:t>(Illustrative customer scenario based on observed pain points across COBOL banking modernization programs, 2025–2026.)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760720"/>
            <a:ext cx="54864" cy="640080"/>
          </a:xfrm>
          <a:prstGeom prst="rect">
            <a:avLst/>
          </a:prstGeom>
          <a:solidFill>
            <a:srgbClr val="42B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D8D8D"/>
                </a:solidFill>
                <a:latin typeface="IBM Plex Sans"/>
              </a:rPr>
              <a:t>The buyer is the CTO running a stalled migration. The price is one stalled month of dual-run infrastructure.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4"/>
                </a:solidFill>
                <a:latin typeface="IBM Plex Sans"/>
              </a:rPr>
              <a:t>IBM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6C6C6"/>
                </a:solidFill>
                <a:latin typeface="IBM Plex Sans"/>
              </a:rPr>
              <a:t>Bob the Judge  ·  IBM Bob 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09728" cy="626364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1">
                <a:solidFill>
                  <a:srgbClr val="8D8D8D"/>
                </a:solidFill>
                <a:latin typeface="IBM Plex Sans"/>
              </a:rPr>
              <a:t>Bob writes the code.  Bob ships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4F4F4"/>
                </a:solidFill>
                <a:latin typeface="IBM Plex Sans"/>
              </a:rPr>
              <a:t>Bob the Judge tells Bob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F62FE"/>
                </a:solidFill>
                <a:latin typeface="IBM Plex Sans"/>
              </a:rPr>
              <a:t>when to flip the switch.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389120"/>
            <a:ext cx="365760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D8D8D"/>
                </a:solidFill>
                <a:latin typeface="IBM Plex Sans"/>
              </a:rPr>
              <a:t>The autonomous decision layer Bob was missing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62FE"/>
                </a:solidFill>
                <a:latin typeface="IBM Plex Mono"/>
              </a:rPr>
              <a:t>Built by CyberFalcon Team  ·  IBM Bob Hackathon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5394960"/>
            <a:ext cx="54864" cy="640080"/>
          </a:xfrm>
          <a:prstGeom prst="rect">
            <a:avLst/>
          </a:prstGeom>
          <a:solidFill>
            <a:srgbClr val="42B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BE65"/>
                </a:solidFill>
                <a:latin typeface="IBM Plex Sans"/>
              </a:rPr>
              <a:t>● Try it live: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4"/>
                </a:solidFill>
                <a:latin typeface="IBM Plex Mono"/>
              </a:rPr>
              <a:t>bob-the-judge-production.up.railway.app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790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D8D8D"/>
                </a:solidFill>
                <a:latin typeface="IBM Plex Sans"/>
              </a:rPr>
              <a:t>github.com/sarvanasadli13/bob-the-judge  ·  5 IBM Bob session reports in /bob_sessions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643</Words>
  <Application>Microsoft Office PowerPoint</Application>
  <PresentationFormat>Custom</PresentationFormat>
  <Paragraphs>143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IBM Plex Mono</vt:lpstr>
      <vt:lpstr>IBM Plex Sans</vt:lpstr>
      <vt:lpstr>IBM Plex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Sarvan</cp:lastModifiedBy>
  <cp:revision>2</cp:revision>
  <dcterms:created xsi:type="dcterms:W3CDTF">2013-01-27T09:14:16Z</dcterms:created>
  <dcterms:modified xsi:type="dcterms:W3CDTF">2026-05-16T00:02:49Z</dcterms:modified>
  <cp:category/>
</cp:coreProperties>
</file>