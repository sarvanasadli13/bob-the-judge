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F4F4"/>
                </a:solidFill>
                <a:latin typeface="IBM Plex Sans"/>
              </a:rPr>
              <a:t>IBM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C6C6"/>
                </a:solidFill>
                <a:latin typeface="IBM Plex Sans"/>
              </a:rPr>
              <a:t>Bob the Judge  ·  IBM Bob 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"/>
            <a:ext cx="73152" cy="62636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4F4F4"/>
                </a:solidFill>
                <a:latin typeface="IBM Plex Sans"/>
              </a:rPr>
              <a:t>Bob the Judge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8D8D8D"/>
                </a:solidFill>
                <a:latin typeface="IBM Plex Sans"/>
              </a:rPr>
              <a:t>Migration Cutover Decision Advisor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2FE"/>
                </a:solidFill>
                <a:latin typeface="IBM Plex Sans"/>
              </a:rPr>
              <a:t>Powered by IBM Bob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754880"/>
            <a:ext cx="320040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D8D8D"/>
                </a:solidFill>
                <a:latin typeface="IBM Plex Sans"/>
              </a:rPr>
              <a:t>Bob writes the code.  Bob ships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F4F4"/>
                </a:solidFill>
                <a:latin typeface="IBM Plex Sans"/>
              </a:rPr>
              <a:t>Bob the Judge tells Bob when.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F4F4"/>
                </a:solidFill>
                <a:latin typeface="IBM Plex Sans"/>
              </a:rPr>
              <a:t>IBM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C6C6"/>
                </a:solidFill>
                <a:latin typeface="IBM Plex Sans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"/>
            <a:ext cx="73152" cy="6263640"/>
          </a:xfrm>
          <a:prstGeom prst="rect">
            <a:avLst/>
          </a:prstGeom>
          <a:solidFill>
            <a:srgbClr val="FA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4F4F4"/>
                </a:solidFill>
                <a:latin typeface="IBM Plex Sans"/>
              </a:rPr>
              <a:t>The Question Nobody Can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FA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1">
                <a:solidFill>
                  <a:srgbClr val="FA4D56"/>
                </a:solidFill>
                <a:latin typeface="IBM Plex Sans"/>
              </a:rPr>
              <a:t>When is it safe to cut over?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3383280" cy="20116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3383280" cy="54864"/>
          </a:xfrm>
          <a:prstGeom prst="rect">
            <a:avLst/>
          </a:prstGeom>
          <a:solidFill>
            <a:srgbClr val="FA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A4D56"/>
                </a:solidFill>
                <a:latin typeface="IBM Plex Sans"/>
              </a:rP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D8D8D"/>
                </a:solidFill>
                <a:latin typeface="IBM Plex Sans"/>
              </a:rPr>
              <a:t>of enterprise migrations
stall in dual-run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103120"/>
            <a:ext cx="3383280" cy="20116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2103120"/>
            <a:ext cx="3383280" cy="54864"/>
          </a:xfrm>
          <a:prstGeom prst="rect">
            <a:avLst/>
          </a:prstGeom>
          <a:solidFill>
            <a:srgbClr val="FA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28600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A4D56"/>
                </a:solidFill>
                <a:latin typeface="IBM Plex Sans"/>
              </a:rPr>
              <a:t>$200K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D8D8D"/>
                </a:solidFill>
                <a:latin typeface="IBM Plex Sans"/>
              </a:rPr>
              <a:t>per month running
two systems in parallel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103120"/>
            <a:ext cx="3383280" cy="20116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2103120"/>
            <a:ext cx="3383280" cy="54864"/>
          </a:xfrm>
          <a:prstGeom prst="rect">
            <a:avLst/>
          </a:prstGeom>
          <a:solidFill>
            <a:srgbClr val="FA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28600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A4D56"/>
                </a:solidFill>
                <a:latin typeface="IBM Plex San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D8D8D"/>
                </a:solidFill>
                <a:latin typeface="IBM Plex Sans"/>
              </a:rPr>
              <a:t>tools producing a
per-function cutover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8D8D8D"/>
                </a:solidFill>
                <a:latin typeface="IBM Plex Sans"/>
              </a:rPr>
              <a:t>CTOs make the cutover decision on gut feel. There is no objective, auditable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F4F4"/>
                </a:solidFill>
                <a:latin typeface="IBM Plex Sans"/>
              </a:rPr>
              <a:t>IBM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C6C6"/>
                </a:solidFill>
                <a:latin typeface="IBM Plex Sans"/>
              </a:rPr>
              <a:t>The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"/>
            <a:ext cx="73152" cy="62636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F4F4"/>
                </a:solidFill>
                <a:latin typeface="IBM Plex Sans"/>
              </a:rPr>
              <a:t>Bob the Judge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" cy="8229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F4F4"/>
                </a:solidFill>
                <a:latin typeface="IBM Plex Sans"/>
              </a:rPr>
              <a:t>Function-level 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556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Per-function readiness score, not a system-level guess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54864" cy="8229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F4F4"/>
                </a:solidFill>
                <a:latin typeface="IBM Plex Sans"/>
              </a:rPr>
              <a:t>Real-time parity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52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Routes live traffic through both systems simultaneously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66160"/>
            <a:ext cx="54864" cy="8229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566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F4F4"/>
                </a:solidFill>
                <a:latin typeface="IBM Plex Sans"/>
              </a:rPr>
              <a:t>Bob-native intelligence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502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Plan, Code, Ask, Orchestrator — Bob operates in all 4 modes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63440"/>
            <a:ext cx="54864" cy="8229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634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F4F4"/>
                </a:solidFill>
                <a:latin typeface="IBM Plex Sans"/>
              </a:rPr>
              <a:t>Regulator-grade audit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474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One click exports a compliance sign-off document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371600"/>
            <a:ext cx="5486400" cy="47548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548640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D8D8D"/>
                </a:solidFill>
                <a:latin typeface="IBM Plex Sans"/>
              </a:rPr>
              <a:t>VERDICT EXAMPLE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920240"/>
            <a:ext cx="5212080" cy="11887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1920240"/>
            <a:ext cx="5212080" cy="45720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D8D8D"/>
                </a:solidFill>
                <a:latin typeface="IBM Plex Sans"/>
              </a:rPr>
              <a:t>Domestic Wire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42BE65"/>
                </a:solidFill>
                <a:latin typeface="IBM Plex Sans"/>
              </a:rPr>
              <a:t>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423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2BE65"/>
                </a:solidFill>
                <a:latin typeface="IBM Plex Sans"/>
              </a:rPr>
              <a:t>SAFE TO CUT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291840"/>
            <a:ext cx="5212080" cy="11887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3291840"/>
            <a:ext cx="5212080" cy="45720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33832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D8D8D"/>
                </a:solidFill>
                <a:latin typeface="IBM Plex Sans"/>
              </a:rPr>
              <a:t>Scheduled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6576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42BE65"/>
                </a:solidFill>
                <a:latin typeface="IBM Plex Sans"/>
              </a:rPr>
              <a:t>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794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2BE65"/>
                </a:solidFill>
                <a:latin typeface="IBM Plex Sans"/>
              </a:rPr>
              <a:t>SAFE TO CUT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663440"/>
            <a:ext cx="5212080" cy="11887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4663440"/>
            <a:ext cx="5212080" cy="45720"/>
          </a:xfrm>
          <a:prstGeom prst="rect">
            <a:avLst/>
          </a:prstGeom>
          <a:solidFill>
            <a:srgbClr val="FA4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75487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D8D8D"/>
                </a:solidFill>
                <a:latin typeface="IBM Plex Sans"/>
              </a:rPr>
              <a:t>International Wire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0292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A4D56"/>
                </a:solidFill>
                <a:latin typeface="IBM Plex Sans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663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A4D56"/>
                </a:solidFill>
                <a:latin typeface="IBM Plex Sans"/>
              </a:rPr>
              <a:t>DO NOT CUT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F4F4"/>
                </a:solidFill>
                <a:latin typeface="IBM Plex Sans"/>
              </a:rPr>
              <a:t>IBM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C6C6"/>
                </a:solidFill>
                <a:latin typeface="IBM Plex Sans"/>
              </a:rPr>
              <a:t>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"/>
            <a:ext cx="73152" cy="62636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4F4F4"/>
                </a:solidFill>
                <a:latin typeface="IBM Plex Sans"/>
              </a:rPr>
              <a:t>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2103120" cy="347472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210312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62FE"/>
                </a:solidFill>
                <a:latin typeface="IBM Plex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240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F4F4"/>
                </a:solidFill>
                <a:latin typeface="IBM Plex Sans"/>
              </a:rPr>
              <a:t>Traffic Generator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Sends identical payment
transactions to both 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62FE"/>
                </a:solidFill>
                <a:latin typeface="IBM Plex Sans"/>
              </a:rP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1463040"/>
            <a:ext cx="2103120" cy="347472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1760" y="1463040"/>
            <a:ext cx="210312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62FE"/>
                </a:solidFill>
                <a:latin typeface="IBM Plex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240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F4F4"/>
                </a:solidFill>
                <a:latin typeface="IBM Plex Sans"/>
              </a:rPr>
              <a:t>Parity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Compares fee, amount,
status — flags divergences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62FE"/>
                </a:solidFill>
                <a:latin typeface="IBM Plex Sans"/>
              </a:rPr>
              <a:t>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1463040"/>
            <a:ext cx="2103120" cy="347472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1463040"/>
            <a:ext cx="210312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62FE"/>
                </a:solidFill>
                <a:latin typeface="IBM Plex Mono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240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F4F4"/>
                </a:solidFill>
                <a:latin typeface="IBM Plex Sans"/>
              </a:rPr>
              <a:t>Scoring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Readiness score 0-100
per payment 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62FE"/>
                </a:solidFill>
                <a:latin typeface="IBM Plex Sans"/>
              </a:rPr>
              <a:t>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1463040"/>
            <a:ext cx="2103120" cy="347472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06640" y="1463040"/>
            <a:ext cx="210312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62FE"/>
                </a:solidFill>
                <a:latin typeface="IBM Plex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240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F4F4"/>
                </a:solidFill>
                <a:latin typeface="IBM Plex Sans"/>
              </a:rPr>
              <a:t>IBM Bob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Plan + Code + Ask +
Orchestrator modes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62FE"/>
                </a:solidFill>
                <a:latin typeface="IBM Plex Sans"/>
              </a:rPr>
              <a:t>&gt;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84080" y="1463040"/>
            <a:ext cx="2103120" cy="347472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84080" y="1463040"/>
            <a:ext cx="210312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62FE"/>
                </a:solidFill>
                <a:latin typeface="IBM Plex Mono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2240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F4F4"/>
                </a:solidFill>
                <a:latin typeface="IBM Plex Sans"/>
              </a:rPr>
              <a:t>Audit PDF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Regulator-grade report
with sign-off page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5303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D8D8D"/>
                </a:solidFill>
                <a:latin typeface="IBM Plex Sans"/>
              </a:rPr>
              <a:t>Domain: Banking payment processing  ·  Legacy=COBOL-style, Modern=FastAPI  ·  Divergence by design for demo clarity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F4F4"/>
                </a:solidFill>
                <a:latin typeface="IBM Plex Sans"/>
              </a:rPr>
              <a:t>IBM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C6C6"/>
                </a:solidFill>
                <a:latin typeface="IBM Plex Sans"/>
              </a:rPr>
              <a:t>IBM Bob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"/>
            <a:ext cx="73152" cy="62636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4F4F4"/>
                </a:solidFill>
                <a:latin typeface="IBM Plex Sans"/>
              </a:rPr>
              <a:t>Bob Operates in All 4 Modes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2651760" cy="38404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2651760" cy="4572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08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F4F4"/>
                </a:solidFill>
                <a:latin typeface="IBM Plex Sans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0312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Generates phased cutover
strategy with risk register
and timeline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463040"/>
            <a:ext cx="2651760" cy="38404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463040"/>
            <a:ext cx="2651760" cy="4572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508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F4F4"/>
                </a:solidFill>
                <a:latin typeface="IBM Plex Sans"/>
              </a:rPr>
              <a:t>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10312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Produces ready-to-deploy
patch for the highest-
severity divergence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463040"/>
            <a:ext cx="2651760" cy="38404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463040"/>
            <a:ext cx="2651760" cy="4572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508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F4F4"/>
                </a:solidFill>
                <a:latin typeface="IBM Plex Sans"/>
              </a:rPr>
              <a:t>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10312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Explains each verdict in
plain English with
regulatory context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463040"/>
            <a:ext cx="2651760" cy="38404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463040"/>
            <a:ext cx="2651760" cy="4572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508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F4F4"/>
                </a:solidFill>
                <a:latin typeface="IBM Plex Sans"/>
              </a:rPr>
              <a:t>Orchestrator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10312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Runs 4-agent pipeline:
Analyser &gt; Risk-Scout &gt;
Fix-Gen &gt; Reporter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532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D8D8D"/>
                </a:solidFill>
                <a:latin typeface="IBM Plex Sans"/>
              </a:rPr>
              <a:t>Powered by Bob's multi-model routing  ·  Claude  ·  Mistral  ·  IBM Granite  ·  fine-tuned code &amp; security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97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F62FE"/>
                </a:solidFill>
                <a:latin typeface="IBM Plex Sans"/>
              </a:rPr>
              <a:t>Mock layer active now  ·  Real IBM Bob API connects at May 15 kick-off stream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F4F4"/>
                </a:solidFill>
                <a:latin typeface="IBM Plex Sans"/>
              </a:rPr>
              <a:t>IBM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C6C6"/>
                </a:solidFill>
                <a:latin typeface="IBM Plex Sans"/>
              </a:rPr>
              <a:t>Business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"/>
            <a:ext cx="73152" cy="6263640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4F4F4"/>
                </a:solidFill>
                <a:latin typeface="IBM Plex Sans"/>
              </a:rPr>
              <a:t>Market &amp;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2651760" cy="18288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2651760" cy="54864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42BE65"/>
                </a:solidFill>
                <a:latin typeface="IBM Plex Mono"/>
              </a:rPr>
              <a:t>800B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lines of COBOL
still in production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651760" cy="18288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371600"/>
            <a:ext cx="2651760" cy="54864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5087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42BE65"/>
                </a:solidFill>
                <a:latin typeface="IBM Plex Mono"/>
              </a:rPr>
              <a:t>$80B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spent annually on
mainframe modernization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2651760" cy="18288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2651760" cy="54864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087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42BE65"/>
                </a:solidFill>
                <a:latin typeface="IBM Plex Mono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migrations stall
in dual-run phase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371600"/>
            <a:ext cx="2651760" cy="18288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371600"/>
            <a:ext cx="2651760" cy="54864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5087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42BE65"/>
                </a:solidFill>
                <a:latin typeface="IBM Plex Mono"/>
              </a:rPr>
              <a:t>$0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D8D8D"/>
                </a:solidFill>
                <a:latin typeface="IBM Plex Sans"/>
              </a:rPr>
              <a:t>tools solving
the cutover decision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474720"/>
            <a:ext cx="11247120" cy="19202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474720"/>
            <a:ext cx="11247120" cy="54864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2BE65"/>
                </a:solidFill>
                <a:latin typeface="IBM Plex Sans"/>
              </a:rPr>
              <a:t>Why We Win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97763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  Bob-native — none of our competitors use IBM Bob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159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  Code-level granularity — they operate at workflow level, we operate at function level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65429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  Demo-friendly — 3 clear verdicts, judges understand it in 10 seconds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992623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  IBM judges, IBM hackathon — cutover is IBM's flagship enterprise pain 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F4F4"/>
                </a:solidFill>
                <a:latin typeface="IBM Plex Sans"/>
              </a:rPr>
              <a:t>IBM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C6C6"/>
                </a:solidFill>
                <a:latin typeface="IBM Plex Sans"/>
              </a:rPr>
              <a:t>Customer Voice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"/>
            <a:ext cx="73152" cy="62636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4F4F4"/>
                </a:solidFill>
                <a:latin typeface="IBM Plex Sans"/>
              </a:rPr>
              <a:t>What CTOs Are Asking 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698480" cy="32918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54864" cy="32918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1">
                <a:solidFill>
                  <a:srgbClr val="0F62FE"/>
                </a:solidFill>
                <a:latin typeface="IBM Plex Serif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7451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F4F4F4"/>
                </a:solidFill>
                <a:latin typeface="IBM Plex Sans"/>
              </a:rPr>
              <a:t>We've been stuck in dual-run for 14 months.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31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F4F4F4"/>
                </a:solidFill>
                <a:latin typeface="IBM Plex Sans"/>
              </a:rPr>
              <a:t>Three consultants couldn't tell us when to cut over.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1">
                <a:solidFill>
                  <a:srgbClr val="0F62FE"/>
                </a:solidFill>
                <a:latin typeface="IBM Plex Sans"/>
              </a:rPr>
              <a:t>Bob the Judge gave us per-function verdicts in 60 seconds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3375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1">
                <a:solidFill>
                  <a:srgbClr val="0F62FE"/>
                </a:solidFill>
                <a:latin typeface="IBM Plex Sans"/>
              </a:rPr>
              <a:t>and the audit PDF is exactly what our regulator asked for.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4069080"/>
            <a:ext cx="3657600" cy="36576"/>
          </a:xfrm>
          <a:prstGeom prst="rect">
            <a:avLst/>
          </a:prstGeom>
          <a:solidFill>
            <a:srgbClr val="52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F4F4"/>
                </a:solidFill>
                <a:latin typeface="IBM Plex Sans"/>
              </a:rPr>
              <a:t>Sarah Chen, 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34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Meridian Financial  ·  Mid-market US bank, $42B AUM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IBM Plex Sans"/>
              </a:rPr>
              <a:t>(Illustrative customer scenario based on observed pain points across COBOL banking modernization programs, 2025–2026.)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760720"/>
            <a:ext cx="10698480" cy="6400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760720"/>
            <a:ext cx="54864" cy="640080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D8D8D"/>
                </a:solidFill>
                <a:latin typeface="IBM Plex Sans"/>
              </a:rPr>
              <a:t>The buyer is the CTO running a stalled migration. The price is one stalled month of dual-run infrastructure.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F4F4"/>
                </a:solidFill>
                <a:latin typeface="IBM Plex Sans"/>
              </a:rPr>
              <a:t>IBM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C6C6"/>
                </a:solidFill>
                <a:latin typeface="IBM Plex Sans"/>
              </a:rPr>
              <a:t>Aligned With IBM's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"/>
            <a:ext cx="73152" cy="62636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4F4F4"/>
                </a:solidFill>
                <a:latin typeface="IBM Plex Sans"/>
              </a:rPr>
              <a:t>Extends watsonx.governance Q1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8D8D8D"/>
                </a:solidFill>
                <a:latin typeface="IBM Plex Sans"/>
              </a:rPr>
              <a:t>Agent Monitoring &amp; Insights into the cutover window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3657600" cy="41148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65760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F4F4"/>
                </a:solidFill>
                <a:latin typeface="IBM Plex Sans"/>
              </a:rPr>
              <a:t>Agent Monitoring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31720"/>
            <a:ext cx="365760" cy="36576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46888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watsonx.governance Q1 2026:
track agent decisions,
behaviors, performance
in real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3383280" cy="36576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4"/>
                </a:solidFill>
                <a:latin typeface="IBM Plex Sans"/>
              </a:rPr>
              <a:t>Bob the Judge:
per-function readiness
verdicts on every live
transaction, function-level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783080"/>
            <a:ext cx="3657600" cy="41148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783080"/>
            <a:ext cx="365760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874519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F4F4"/>
                </a:solidFill>
                <a:latin typeface="IBM Plex Sans"/>
              </a:rPr>
              <a:t>Threshold Alerts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2331720"/>
            <a:ext cx="365760" cy="36576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246888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watsonx.governance Q1 2026:
alert when agent thresholds
breached in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023360"/>
            <a:ext cx="3383280" cy="36576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411480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4"/>
                </a:solidFill>
                <a:latin typeface="IBM Plex Sans"/>
              </a:rPr>
              <a:t>Bob the Judge:
&gt;2σ anomaly flagging +
Wilson 95% CI gates the
cutover decision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783080"/>
            <a:ext cx="3657600" cy="41148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1783080"/>
            <a:ext cx="365760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1874519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F4F4"/>
                </a:solidFill>
                <a:latin typeface="IBM Plex Sans"/>
              </a:rPr>
              <a:t>Audit-Ready Reporting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2331720"/>
            <a:ext cx="365760" cy="36576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46888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D8D8D"/>
                </a:solidFill>
                <a:latin typeface="IBM Plex Sans"/>
              </a:rPr>
              <a:t>watsonx.governance:
continuous compliance
reports, controls mapping
(NIST, FFIEC, COBIT)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4023360"/>
            <a:ext cx="3383280" cy="36576"/>
          </a:xfrm>
          <a:prstGeom prst="rect">
            <a:avLst/>
          </a:prstGeom>
          <a:solidFill>
            <a:srgbClr val="42B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411480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4"/>
                </a:solidFill>
                <a:latin typeface="IBM Plex Sans"/>
              </a:rPr>
              <a:t>Bob the Judge:
one-click regulator-grade
PDF with sign-off page
and evidence trail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6035040"/>
            <a:ext cx="54864" cy="6400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199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F62FE"/>
                </a:solidFill>
                <a:latin typeface="IBM Plex Sans"/>
              </a:rPr>
              <a:t>Bob the Judge plugs the cutover-decision gap inside IBM's existing governance fabric.  Designed to plug into watsonx Orchestrate workflows.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F4F4"/>
                </a:solidFill>
                <a:latin typeface="IBM Plex Sans"/>
              </a:rPr>
              <a:t>IBM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7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6C6C6"/>
                </a:solidFill>
                <a:latin typeface="IBM Plex Sans"/>
              </a:rPr>
              <a:t>Bob the Judge  ·  IBM Bob 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"/>
            <a:ext cx="12188952" cy="626364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94360"/>
            <a:ext cx="109728" cy="626364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1">
                <a:solidFill>
                  <a:srgbClr val="8D8D8D"/>
                </a:solidFill>
                <a:latin typeface="IBM Plex Sans"/>
              </a:rPr>
              <a:t>Bob writes the code.  Bob ships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4F4F4"/>
                </a:solidFill>
                <a:latin typeface="IBM Plex Sans"/>
              </a:rPr>
              <a:t>Bob the Judge tells Bob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F62FE"/>
                </a:solidFill>
                <a:latin typeface="IBM Plex Sans"/>
              </a:rPr>
              <a:t>when to flip the switch.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89120"/>
            <a:ext cx="3657600" cy="54864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D8D8D"/>
                </a:solidFill>
                <a:latin typeface="IBM Plex Sans"/>
              </a:rPr>
              <a:t>The autonomous decision layer Bob was missing  ·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